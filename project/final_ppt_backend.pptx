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Lst>
  <p:notesMasterIdLst>
    <p:notesMasterId r:id="rId5"/>
  </p:notesMasterIdLst>
  <p:handoutMasterIdLst>
    <p:handoutMasterId r:id="rId21"/>
  </p:handoutMasterIdLst>
  <p:sldIdLst>
    <p:sldId id="258" r:id="rId4"/>
    <p:sldId id="377" r:id="rId6"/>
    <p:sldId id="391" r:id="rId7"/>
    <p:sldId id="392" r:id="rId8"/>
    <p:sldId id="393" r:id="rId9"/>
    <p:sldId id="394" r:id="rId10"/>
    <p:sldId id="395" r:id="rId11"/>
    <p:sldId id="396" r:id="rId12"/>
    <p:sldId id="398" r:id="rId13"/>
    <p:sldId id="402" r:id="rId14"/>
    <p:sldId id="397" r:id="rId15"/>
    <p:sldId id="399" r:id="rId16"/>
    <p:sldId id="400" r:id="rId17"/>
    <p:sldId id="374" r:id="rId18"/>
    <p:sldId id="401" r:id="rId19"/>
    <p:sldId id="33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370" autoAdjust="0"/>
    <p:restoredTop sz="54118" autoAdjust="0"/>
  </p:normalViewPr>
  <p:slideViewPr>
    <p:cSldViewPr snapToGrid="0" snapToObjects="1" showGuides="1">
      <p:cViewPr varScale="1">
        <p:scale>
          <a:sx n="78" d="100"/>
          <a:sy n="78" d="100"/>
        </p:scale>
        <p:origin x="57" y="570"/>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microsoft.com/office/2018/10/relationships/authors" Targe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handoutMaster" Target="handoutMasters/handoutMaster1.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image" Target="../media/image1.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fld>
            <a:endParaRPr lang="en-US"/>
          </a:p>
        </p:txBody>
      </p:sp>
      <p:pic>
        <p:nvPicPr>
          <p:cNvPr id="7" name="Picture 6"/>
          <p:cNvPicPr>
            <a:picLocks noChangeAspect="1"/>
          </p:cNvPicPr>
          <p:nvPr/>
        </p:nvPicPr>
        <p:blipFill>
          <a:blip r:embed="rId1"/>
          <a:stretch>
            <a:fillRect/>
          </a:stretch>
        </p:blipFill>
        <p:spPr>
          <a:xfrm>
            <a:off x="0" y="0"/>
            <a:ext cx="1116374" cy="458788"/>
          </a:xfrm>
          <a:prstGeom prst="rect">
            <a:avLst/>
          </a:prstGeom>
        </p:spPr>
      </p:pic>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E0DA504A-D052-4F2D-906E-4CCCD67E5352}" type="datetime1">
              <a:rPr lang="en-IN" smtClean="0"/>
            </a:fld>
            <a:endParaRPr lang="en-US"/>
          </a:p>
        </p:txBody>
      </p:sp>
      <p:sp>
        <p:nvSpPr>
          <p:cNvPr id="5" name="Footer Placeholder 4"/>
          <p:cNvSpPr>
            <a:spLocks noGrp="1"/>
          </p:cNvSpPr>
          <p:nvPr>
            <p:ph type="ftr" sz="quarter" idx="11"/>
          </p:nvPr>
        </p:nvSpPr>
        <p:spPr/>
        <p:txBody>
          <a:bodyPr/>
          <a:lstStyle/>
          <a:p>
            <a:r>
              <a:rPr lang="en-US"/>
              <a:t>0th REVIEW           </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3C447009-55DF-4EA5-900B-29AFB7C8438A}" type="datetime1">
              <a:rPr lang="en-IN" smtClean="0"/>
            </a:fld>
            <a:endParaRPr lang="en-US"/>
          </a:p>
        </p:txBody>
      </p:sp>
      <p:sp>
        <p:nvSpPr>
          <p:cNvPr id="5" name="Footer Placeholder 4"/>
          <p:cNvSpPr>
            <a:spLocks noGrp="1"/>
          </p:cNvSpPr>
          <p:nvPr>
            <p:ph type="ftr" sz="quarter" idx="11"/>
          </p:nvPr>
        </p:nvSpPr>
        <p:spPr/>
        <p:txBody>
          <a:bodyPr/>
          <a:lstStyle/>
          <a:p>
            <a:r>
              <a:rPr lang="en-US"/>
              <a:t>0th REVIEW           </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FFE8B550-430E-4E00-8584-398912EDCDA8}" type="datetime1">
              <a:rPr lang="en-IN" smtClean="0"/>
            </a:fld>
            <a:endParaRPr lang="en-US"/>
          </a:p>
        </p:txBody>
      </p:sp>
      <p:sp>
        <p:nvSpPr>
          <p:cNvPr id="5" name="Footer Placeholder 4"/>
          <p:cNvSpPr>
            <a:spLocks noGrp="1"/>
          </p:cNvSpPr>
          <p:nvPr>
            <p:ph type="ftr" sz="quarter" idx="11"/>
          </p:nvPr>
        </p:nvSpPr>
        <p:spPr/>
        <p:txBody>
          <a:bodyPr/>
          <a:lstStyle/>
          <a:p>
            <a:r>
              <a:rPr lang="en-US"/>
              <a:t>0th REVIEW           </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BF3515C1-FC0C-48DC-AA13-5A7440F04A46}" type="datetime1">
              <a:rPr lang="en-IN" smtClean="0"/>
            </a:fld>
            <a:endParaRPr lang="en-US"/>
          </a:p>
        </p:txBody>
      </p:sp>
      <p:sp>
        <p:nvSpPr>
          <p:cNvPr id="6" name="Footer Placeholder 5"/>
          <p:cNvSpPr>
            <a:spLocks noGrp="1"/>
          </p:cNvSpPr>
          <p:nvPr>
            <p:ph type="ftr" sz="quarter" idx="11"/>
          </p:nvPr>
        </p:nvSpPr>
        <p:spPr/>
        <p:txBody>
          <a:bodyPr/>
          <a:lstStyle/>
          <a:p>
            <a:r>
              <a:rPr lang="en-US"/>
              <a:t>0th REVIEW           </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06C4A9D0-F765-45B1-928F-556B91D2C522}" type="datetime1">
              <a:rPr lang="en-IN" smtClean="0"/>
            </a:fld>
            <a:endParaRPr lang="en-US"/>
          </a:p>
        </p:txBody>
      </p:sp>
      <p:sp>
        <p:nvSpPr>
          <p:cNvPr id="8" name="Footer Placeholder 7"/>
          <p:cNvSpPr>
            <a:spLocks noGrp="1"/>
          </p:cNvSpPr>
          <p:nvPr>
            <p:ph type="ftr" sz="quarter" idx="11"/>
          </p:nvPr>
        </p:nvSpPr>
        <p:spPr/>
        <p:txBody>
          <a:bodyPr/>
          <a:lstStyle/>
          <a:p>
            <a:r>
              <a:rPr lang="en-US"/>
              <a:t>0th REVIEW           </a:t>
            </a:r>
            <a:endParaRPr lang="en-US"/>
          </a:p>
        </p:txBody>
      </p:sp>
      <p:sp>
        <p:nvSpPr>
          <p:cNvPr id="9" name="Slide Number Placeholder 8"/>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420E6F3-7E24-4BDE-BB37-BD18A6966701}" type="datetime1">
              <a:rPr lang="en-IN" smtClean="0"/>
            </a:fld>
            <a:endParaRPr lang="en-US"/>
          </a:p>
        </p:txBody>
      </p:sp>
      <p:sp>
        <p:nvSpPr>
          <p:cNvPr id="4" name="Footer Placeholder 3"/>
          <p:cNvSpPr>
            <a:spLocks noGrp="1"/>
          </p:cNvSpPr>
          <p:nvPr>
            <p:ph type="ftr" sz="quarter" idx="11"/>
          </p:nvPr>
        </p:nvSpPr>
        <p:spPr/>
        <p:txBody>
          <a:bodyPr/>
          <a:lstStyle/>
          <a:p>
            <a:r>
              <a:rPr lang="en-US"/>
              <a:t>0th REVIEW           </a:t>
            </a:r>
            <a:endParaRPr lang="en-US"/>
          </a:p>
        </p:txBody>
      </p:sp>
      <p:sp>
        <p:nvSpPr>
          <p:cNvPr id="5" name="Slide Number Placeholder 4"/>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113449-4DF0-4F1F-A3E4-097B1714C7C4}" type="datetime1">
              <a:rPr lang="en-IN" smtClean="0"/>
            </a:fld>
            <a:endParaRPr lang="en-US"/>
          </a:p>
        </p:txBody>
      </p:sp>
      <p:sp>
        <p:nvSpPr>
          <p:cNvPr id="3" name="Footer Placeholder 2"/>
          <p:cNvSpPr>
            <a:spLocks noGrp="1"/>
          </p:cNvSpPr>
          <p:nvPr>
            <p:ph type="ftr" sz="quarter" idx="11"/>
          </p:nvPr>
        </p:nvSpPr>
        <p:spPr/>
        <p:txBody>
          <a:bodyPr/>
          <a:lstStyle/>
          <a:p>
            <a:r>
              <a:rPr lang="en-US"/>
              <a:t>0th REVIEW           </a:t>
            </a:r>
            <a:endParaRPr lang="en-US"/>
          </a:p>
        </p:txBody>
      </p:sp>
      <p:sp>
        <p:nvSpPr>
          <p:cNvPr id="4" name="Slide Number Placeholder 3"/>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7CF4166F-CD67-4CEB-8DD7-1E38016562AC}" type="datetime1">
              <a:rPr lang="en-IN" smtClean="0"/>
            </a:fld>
            <a:endParaRPr lang="en-US"/>
          </a:p>
        </p:txBody>
      </p:sp>
      <p:sp>
        <p:nvSpPr>
          <p:cNvPr id="6" name="Footer Placeholder 5"/>
          <p:cNvSpPr>
            <a:spLocks noGrp="1"/>
          </p:cNvSpPr>
          <p:nvPr>
            <p:ph type="ftr" sz="quarter" idx="11"/>
          </p:nvPr>
        </p:nvSpPr>
        <p:spPr/>
        <p:txBody>
          <a:bodyPr/>
          <a:lstStyle/>
          <a:p>
            <a:r>
              <a:rPr lang="en-US"/>
              <a:t>0th REVIEW           </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9178F83E-6F8A-4D66-8D97-D167DE305BE2}" type="datetime1">
              <a:rPr lang="en-IN" smtClean="0"/>
            </a:fld>
            <a:endParaRPr lang="en-US"/>
          </a:p>
        </p:txBody>
      </p:sp>
      <p:sp>
        <p:nvSpPr>
          <p:cNvPr id="6" name="Footer Placeholder 5"/>
          <p:cNvSpPr>
            <a:spLocks noGrp="1"/>
          </p:cNvSpPr>
          <p:nvPr>
            <p:ph type="ftr" sz="quarter" idx="11"/>
          </p:nvPr>
        </p:nvSpPr>
        <p:spPr/>
        <p:txBody>
          <a:bodyPr/>
          <a:lstStyle/>
          <a:p>
            <a:r>
              <a:rPr lang="en-US"/>
              <a:t>0th REVIEW           </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68FA3A21-9775-4B2C-9B39-32116406212C}" type="datetime1">
              <a:rPr lang="en-IN" smtClean="0"/>
            </a:fld>
            <a:endParaRPr lang="en-US"/>
          </a:p>
        </p:txBody>
      </p:sp>
      <p:sp>
        <p:nvSpPr>
          <p:cNvPr id="5" name="Footer Placeholder 4"/>
          <p:cNvSpPr>
            <a:spLocks noGrp="1"/>
          </p:cNvSpPr>
          <p:nvPr>
            <p:ph type="ftr" sz="quarter" idx="11"/>
          </p:nvPr>
        </p:nvSpPr>
        <p:spPr/>
        <p:txBody>
          <a:bodyPr/>
          <a:lstStyle/>
          <a:p>
            <a:r>
              <a:rPr lang="en-US"/>
              <a:t>0th REVIEW           </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D43ABDC8-9AAF-4B62-9540-4EA826AA678B}" type="datetime1">
              <a:rPr lang="en-IN" smtClean="0"/>
            </a:fld>
            <a:endParaRPr lang="en-US"/>
          </a:p>
        </p:txBody>
      </p:sp>
      <p:sp>
        <p:nvSpPr>
          <p:cNvPr id="5" name="Footer Placeholder 4"/>
          <p:cNvSpPr>
            <a:spLocks noGrp="1"/>
          </p:cNvSpPr>
          <p:nvPr>
            <p:ph type="ftr" sz="quarter" idx="11"/>
          </p:nvPr>
        </p:nvSpPr>
        <p:spPr/>
        <p:txBody>
          <a:bodyPr/>
          <a:lstStyle/>
          <a:p>
            <a:r>
              <a:rPr lang="en-US"/>
              <a:t>0th REVIEW           </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5F3821C3-0F1A-498D-9F2E-D10FACA35B86}" type="datetime1">
              <a:rPr lang="en-IN" smtClean="0"/>
            </a:fld>
            <a:endParaRPr lang="en-US"/>
          </a:p>
        </p:txBody>
      </p:sp>
      <p:sp>
        <p:nvSpPr>
          <p:cNvPr id="5" name="Footer Placeholder 4"/>
          <p:cNvSpPr>
            <a:spLocks noGrp="1"/>
          </p:cNvSpPr>
          <p:nvPr>
            <p:ph type="ftr" sz="quarter" idx="11"/>
          </p:nvPr>
        </p:nvSpPr>
        <p:spPr/>
        <p:txBody>
          <a:bodyPr/>
          <a:lstStyle/>
          <a:p>
            <a:r>
              <a:rPr lang="en-US"/>
              <a:t>0th REVIEW           </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B119A7DA-FCDD-43FA-8A0C-6A5B2B391695}" type="datetime1">
              <a:rPr lang="en-IN" smtClean="0"/>
            </a:fld>
            <a:endParaRPr lang="en-US"/>
          </a:p>
        </p:txBody>
      </p:sp>
      <p:sp>
        <p:nvSpPr>
          <p:cNvPr id="5" name="Footer Placeholder 4"/>
          <p:cNvSpPr>
            <a:spLocks noGrp="1"/>
          </p:cNvSpPr>
          <p:nvPr>
            <p:ph type="ftr" sz="quarter" idx="11"/>
          </p:nvPr>
        </p:nvSpPr>
        <p:spPr/>
        <p:txBody>
          <a:bodyPr/>
          <a:lstStyle/>
          <a:p>
            <a:r>
              <a:rPr lang="en-US"/>
              <a:t>0th REVIEW           </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C138D4BE-274D-4073-90F9-6DE45B427D7A}" type="datetime1">
              <a:rPr lang="en-IN" smtClean="0"/>
            </a:fld>
            <a:endParaRPr lang="en-US"/>
          </a:p>
        </p:txBody>
      </p:sp>
      <p:sp>
        <p:nvSpPr>
          <p:cNvPr id="5" name="Footer Placeholder 4"/>
          <p:cNvSpPr>
            <a:spLocks noGrp="1"/>
          </p:cNvSpPr>
          <p:nvPr>
            <p:ph type="ftr" sz="quarter" idx="11"/>
          </p:nvPr>
        </p:nvSpPr>
        <p:spPr/>
        <p:txBody>
          <a:bodyPr/>
          <a:lstStyle/>
          <a:p>
            <a:r>
              <a:rPr lang="en-US"/>
              <a:t>0th REVIEW           </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C4DD2526-BF89-47C7-96E6-5B804E43EF11}" type="datetime1">
              <a:rPr lang="en-IN" smtClean="0"/>
            </a:fld>
            <a:endParaRPr lang="en-US"/>
          </a:p>
        </p:txBody>
      </p:sp>
      <p:sp>
        <p:nvSpPr>
          <p:cNvPr id="6" name="Footer Placeholder 5"/>
          <p:cNvSpPr>
            <a:spLocks noGrp="1"/>
          </p:cNvSpPr>
          <p:nvPr>
            <p:ph type="ftr" sz="quarter" idx="11"/>
          </p:nvPr>
        </p:nvSpPr>
        <p:spPr/>
        <p:txBody>
          <a:bodyPr/>
          <a:lstStyle/>
          <a:p>
            <a:r>
              <a:rPr lang="en-US"/>
              <a:t>0th REVIEW           </a:t>
            </a:r>
            <a:endParaRPr lang="en-US"/>
          </a:p>
        </p:txBody>
      </p:sp>
      <p:sp>
        <p:nvSpPr>
          <p:cNvPr id="7" name="Slide Number Placeholder 6"/>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84827929-B24E-4CA0-A508-395AF785C673}" type="datetime1">
              <a:rPr lang="en-IN" smtClean="0"/>
            </a:fld>
            <a:endParaRPr lang="en-US"/>
          </a:p>
        </p:txBody>
      </p:sp>
      <p:sp>
        <p:nvSpPr>
          <p:cNvPr id="8" name="Footer Placeholder 7"/>
          <p:cNvSpPr>
            <a:spLocks noGrp="1"/>
          </p:cNvSpPr>
          <p:nvPr>
            <p:ph type="ftr" sz="quarter" idx="11"/>
          </p:nvPr>
        </p:nvSpPr>
        <p:spPr/>
        <p:txBody>
          <a:bodyPr/>
          <a:lstStyle/>
          <a:p>
            <a:r>
              <a:rPr lang="en-US"/>
              <a:t>0th REVIEW           </a:t>
            </a:r>
            <a:endParaRPr lang="en-US"/>
          </a:p>
        </p:txBody>
      </p:sp>
      <p:sp>
        <p:nvSpPr>
          <p:cNvPr id="9" name="Slide Number Placeholder 8"/>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15815" y="300399"/>
            <a:ext cx="11336216" cy="1525601"/>
          </a:xfrm>
        </p:spPr>
        <p:txBody>
          <a:bodyPr>
            <a:noAutofit/>
          </a:bodyPr>
          <a:lstStyle/>
          <a:p>
            <a:pPr algn="ctr">
              <a:lnSpc>
                <a:spcPct val="100000"/>
              </a:lnSpc>
            </a:pPr>
            <a:r>
              <a:rPr lang="en-US" sz="3200" b="1" dirty="0">
                <a:solidFill>
                  <a:srgbClr val="011893"/>
                </a:solidFill>
                <a:latin typeface="+mn-lt"/>
                <a:cs typeface="Arial" panose="020B0604020202020204" pitchFamily="34" charset="0"/>
              </a:rPr>
              <a:t> Secure Distributed Backend System for Web Vulnerability Detection</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p:cNvSpPr>
            <a:spLocks noGrp="1"/>
          </p:cNvSpPr>
          <p:nvPr>
            <p:ph type="dt" sz="half" idx="10"/>
          </p:nvPr>
        </p:nvSpPr>
        <p:spPr/>
        <p:txBody>
          <a:bodyPr/>
          <a:lstStyle/>
          <a:p>
            <a:endParaRPr lang="en-US" dirty="0"/>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endParaRPr lang="en-US" sz="1800" b="1" dirty="0">
              <a:solidFill>
                <a:srgbClr val="C00000"/>
              </a:solidFill>
            </a:endParaRP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endParaRPr lang="en-US" sz="2400" dirty="0"/>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Department of Computer Science and Engineering </a:t>
            </a:r>
            <a:endParaRPr lang="en-US" sz="2400" dirty="0">
              <a:solidFill>
                <a:srgbClr val="00B050"/>
              </a:solidFill>
            </a:endParaRPr>
          </a:p>
          <a:p>
            <a:pPr marL="0" indent="0">
              <a:buFont typeface="Arial" panose="020B0604020202020204" pitchFamily="34" charset="0"/>
              <a:buNone/>
            </a:pPr>
            <a:endParaRPr lang="en-US" sz="2400" dirty="0">
              <a:solidFill>
                <a:srgbClr val="00B050"/>
              </a:solidFill>
            </a:endParaRPr>
          </a:p>
        </p:txBody>
      </p:sp>
      <p:sp>
        <p:nvSpPr>
          <p:cNvPr id="4" name="Footer Placeholder 3"/>
          <p:cNvSpPr>
            <a:spLocks noGrp="1"/>
          </p:cNvSpPr>
          <p:nvPr>
            <p:ph type="ftr" sz="quarter" idx="11"/>
          </p:nvPr>
        </p:nvSpPr>
        <p:spPr/>
        <p:txBody>
          <a:bodyPr/>
          <a:lstStyle/>
          <a:p>
            <a:r>
              <a:rPr lang="en-US" dirty="0">
                <a:solidFill>
                  <a:schemeClr val="bg1"/>
                </a:solidFill>
              </a:rPr>
              <a:t>0th REVIEW           </a:t>
            </a:r>
            <a:endParaRPr lang="en-US" dirty="0">
              <a:solidFill>
                <a:schemeClr val="bg1"/>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fld>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p:cNvGraphicFramePr>
            <a:graphicFrameLocks noGrp="1"/>
          </p:cNvGraphicFramePr>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gridCol w="4064000"/>
              </a:tblGrid>
              <a:tr h="370840">
                <a:tc>
                  <a:txBody>
                    <a:bodyPr/>
                    <a:lstStyle/>
                    <a:p>
                      <a:r>
                        <a:rPr lang="en-US" dirty="0"/>
                        <a:t>SAI KIRAN ABBURI</a:t>
                      </a:r>
                      <a:endParaRPr lang="en-US" dirty="0"/>
                    </a:p>
                  </a:txBody>
                  <a:tcPr/>
                </a:tc>
                <a:tc>
                  <a:txBody>
                    <a:bodyPr/>
                    <a:lstStyle/>
                    <a:p>
                      <a:r>
                        <a:rPr lang="en-US" dirty="0"/>
                        <a:t>2520030125</a:t>
                      </a:r>
                      <a:endParaRPr lang="en-US" dirty="0"/>
                    </a:p>
                  </a:txBody>
                  <a:tcPr/>
                </a:tc>
              </a:tr>
              <a:tr h="370840">
                <a:tc>
                  <a:txBody>
                    <a:bodyPr/>
                    <a:lstStyle/>
                    <a:p>
                      <a:r>
                        <a:rPr lang="en-US" dirty="0"/>
                        <a:t>JOSHI RUSHITHA KASTURI</a:t>
                      </a:r>
                      <a:endParaRPr lang="en-US" dirty="0"/>
                    </a:p>
                  </a:txBody>
                  <a:tcPr/>
                </a:tc>
                <a:tc>
                  <a:txBody>
                    <a:bodyPr/>
                    <a:lstStyle/>
                    <a:p>
                      <a:r>
                        <a:rPr lang="en-US" dirty="0"/>
                        <a:t>2520030204</a:t>
                      </a:r>
                      <a:endParaRPr lang="en-US" dirty="0"/>
                    </a:p>
                  </a:txBody>
                  <a:tcPr/>
                </a:tc>
              </a:tr>
              <a:tr h="370840">
                <a:tc>
                  <a:txBody>
                    <a:bodyPr/>
                    <a:lstStyle/>
                    <a:p>
                      <a:r>
                        <a:rPr lang="en-US" dirty="0"/>
                        <a:t>ALAHARI VENKATA SAI THAPASWI</a:t>
                      </a:r>
                      <a:endParaRPr lang="en-US" dirty="0"/>
                    </a:p>
                  </a:txBody>
                  <a:tcPr/>
                </a:tc>
                <a:tc>
                  <a:txBody>
                    <a:bodyPr/>
                    <a:lstStyle/>
                    <a:p>
                      <a:r>
                        <a:rPr lang="en-US" dirty="0"/>
                        <a:t>2520030223</a:t>
                      </a:r>
                      <a:endParaRPr lang="en-US" dirty="0"/>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graphicFrame>
        <p:nvGraphicFramePr>
          <p:cNvPr id="10" name="Table 9"/>
          <p:cNvGraphicFramePr/>
          <p:nvPr/>
        </p:nvGraphicFramePr>
        <p:xfrm>
          <a:off x="965200" y="1573530"/>
          <a:ext cx="10403205" cy="3983355"/>
        </p:xfrm>
        <a:graphic>
          <a:graphicData uri="http://schemas.openxmlformats.org/drawingml/2006/table">
            <a:tbl>
              <a:tblPr firstRow="1" bandRow="1">
                <a:tableStyleId>{5C22544A-7EE6-4342-B048-85BDC9FD1C3A}</a:tableStyleId>
              </a:tblPr>
              <a:tblGrid>
                <a:gridCol w="5180330"/>
                <a:gridCol w="5222875"/>
              </a:tblGrid>
              <a:tr h="446405">
                <a:tc>
                  <a:txBody>
                    <a:bodyPr/>
                    <a:p>
                      <a:pPr algn="ctr"/>
                      <a:r>
                        <a:rPr lang="en-US" dirty="0"/>
                        <a:t>Name of Candidate</a:t>
                      </a:r>
                      <a:endParaRPr lang="en-US" dirty="0"/>
                    </a:p>
                  </a:txBody>
                  <a:tcPr/>
                </a:tc>
                <a:tc>
                  <a:txBody>
                    <a:bodyPr/>
                    <a:p>
                      <a:pPr algn="ctr"/>
                      <a:r>
                        <a:rPr lang="en-US" dirty="0"/>
                        <a:t>Role</a:t>
                      </a:r>
                      <a:endParaRPr lang="en-US" dirty="0"/>
                    </a:p>
                  </a:txBody>
                  <a:tcPr/>
                </a:tc>
              </a:tr>
              <a:tr h="1393190">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US" dirty="0"/>
                        <a:t>SAI KIRAN ABBURI</a:t>
                      </a:r>
                      <a:endParaRPr lang="en-US" dirty="0"/>
                    </a:p>
                    <a:p>
                      <a:endParaRPr lang="en-US" dirty="0"/>
                    </a:p>
                  </a:txBody>
                  <a:tcPr/>
                </a:tc>
                <a:tc>
                  <a:txBody>
                    <a:bodyPr/>
                    <a:p>
                      <a:r>
                        <a:rPr lang="en-IN" dirty="0"/>
                        <a:t>Safety &amp; Location Features: GPS/location tracking, map integration, SOS workflow, emergency notifications, safety zones, check-in/timer functionality, testing</a:t>
                      </a:r>
                      <a:endParaRPr lang="en-US" dirty="0"/>
                    </a:p>
                  </a:txBody>
                  <a:tcPr/>
                </a:tc>
              </a:tr>
              <a:tr h="1072515">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US" dirty="0"/>
                        <a:t>JOSHI RUSHITHA KASTURI</a:t>
                      </a:r>
                      <a:endParaRPr lang="en-US" dirty="0"/>
                    </a:p>
                    <a:p>
                      <a:endParaRPr lang="en-US" dirty="0"/>
                    </a:p>
                  </a:txBody>
                  <a:tcPr/>
                </a:tc>
                <a:tc>
                  <a:txBody>
                    <a:bodyPr/>
                    <a:p>
                      <a:r>
                        <a:rPr lang="en-IN" dirty="0"/>
                        <a:t>Frontend &amp; UI</a:t>
                      </a:r>
                      <a:r>
                        <a:rPr lang="en-US" dirty="0"/>
                        <a:t>:</a:t>
                      </a:r>
                      <a:r>
                        <a:rPr lang="en-IN" dirty="0"/>
                        <a:t>Login/registration screens, dashboard, SOS interface, emergency contacts UI, safety tools UI, responsive design, navigation</a:t>
                      </a:r>
                      <a:endParaRPr lang="en-IN" dirty="0"/>
                    </a:p>
                  </a:txBody>
                  <a:tcPr/>
                </a:tc>
              </a:tr>
              <a:tr h="1071245">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US" dirty="0"/>
                        <a:t>ALAHARI VENKATA SAI THAPASWI</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txBody>
                  <a:tcPr/>
                </a:tc>
                <a:tc>
                  <a:txBody>
                    <a:bodyPr/>
                    <a:p>
                      <a:r>
                        <a:rPr lang="en-IN" dirty="0"/>
                        <a:t>REST APIs, user authentication, emergency contacts APIs, SOS data, safety zones, check-ins, database tables, API–database connection</a:t>
                      </a:r>
                      <a:endParaRPr lang="en-US" b="0" dirty="0">
                        <a:solidFill>
                          <a:schemeClr val="tx1">
                            <a:alpha val="31000"/>
                          </a:schemeClr>
                        </a:solidFill>
                      </a:endParaRPr>
                    </a:p>
                  </a:txBody>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0235"/>
          </a:xfrm>
        </p:spPr>
        <p:txBody>
          <a:bodyPr>
            <a:normAutofit/>
          </a:bodyPr>
          <a:lstStyle/>
          <a:p>
            <a:pPr algn="ctr"/>
            <a:r>
              <a:rPr lang="en-IN" sz="3200" b="1" dirty="0">
                <a:solidFill>
                  <a:srgbClr val="0070C0"/>
                </a:solidFill>
                <a:latin typeface="Times New Roman" panose="02020603050405020304" charset="0"/>
                <a:cs typeface="Times New Roman" panose="02020603050405020304" charset="0"/>
              </a:rPr>
              <a:t>ABSTRACT</a:t>
            </a:r>
            <a:endParaRPr lang="en-IN" sz="3200" b="1" dirty="0">
              <a:solidFill>
                <a:srgbClr val="0070C0"/>
              </a:solidFill>
              <a:latin typeface="Times New Roman" panose="02020603050405020304" charset="0"/>
              <a:cs typeface="Times New Roman" panose="02020603050405020304" charset="0"/>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4" name="Content Placeholder 3"/>
          <p:cNvSpPr>
            <a:spLocks noGrp="1"/>
          </p:cNvSpPr>
          <p:nvPr>
            <p:ph idx="1"/>
          </p:nvPr>
        </p:nvSpPr>
        <p:spPr>
          <a:xfrm>
            <a:off x="838200" y="1513840"/>
            <a:ext cx="10515600" cy="5207634"/>
          </a:xfrm>
        </p:spPr>
        <p:txBody>
          <a:bodyPr>
            <a:normAutofit/>
          </a:bodyPr>
          <a:lstStyle/>
          <a:p>
            <a:r>
              <a:rPr lang="en-US" sz="2000" dirty="0" err="1"/>
              <a:t>WomenSafety</a:t>
            </a:r>
            <a:r>
              <a:rPr lang="en-US" sz="2000" dirty="0"/>
              <a:t> is a personal safety system designed to help users during emergency situations. </a:t>
            </a:r>
            <a:endParaRPr lang="en-US" sz="2000" dirty="0"/>
          </a:p>
          <a:p>
            <a:r>
              <a:rPr lang="en-US" sz="2000" dirty="0"/>
              <a:t>The system provides Normal SOS and Secret SOS, live GPS location sharing, emergency contacts, safety timers, safe zones, check-ins, and a fake call feature.</a:t>
            </a:r>
            <a:endParaRPr lang="en-US" sz="2000" dirty="0"/>
          </a:p>
          <a:p>
            <a:endParaRPr lang="en-US" sz="2000" dirty="0"/>
          </a:p>
          <a:p>
            <a:r>
              <a:rPr lang="en-US" sz="2000" dirty="0"/>
              <a:t>The application brings important safety functions into one platform so that emergency actions can be triggered quickly and information can be shared with trusted contacts. The main goal is to provide a simple, accessible, and reliable safety solution.</a:t>
            </a:r>
            <a:endParaRPr lang="en-US" sz="2000"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latin typeface="Times New Roman" panose="02020603050405020304" charset="0"/>
                <a:cs typeface="Times New Roman" panose="02020603050405020304" charset="0"/>
              </a:rPr>
              <a:t>INTRDOUCTION</a:t>
            </a:r>
            <a:endParaRPr lang="en-IN" sz="3200" dirty="0">
              <a:solidFill>
                <a:srgbClr val="0070C0"/>
              </a:solidFill>
              <a:latin typeface="Times New Roman" panose="02020603050405020304" charset="0"/>
              <a:cs typeface="Times New Roman" panose="02020603050405020304" charset="0"/>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4" name="Content Placeholder 3"/>
          <p:cNvSpPr>
            <a:spLocks noGrp="1"/>
          </p:cNvSpPr>
          <p:nvPr>
            <p:ph idx="1"/>
          </p:nvPr>
        </p:nvSpPr>
        <p:spPr/>
        <p:txBody>
          <a:bodyPr>
            <a:normAutofit/>
          </a:bodyPr>
          <a:lstStyle/>
          <a:p>
            <a:r>
              <a:rPr lang="en-US" sz="2000" dirty="0"/>
              <a:t>Women frequently need quick access to emergency support while travelling or moving through unfamiliar places.</a:t>
            </a:r>
            <a:endParaRPr lang="en-US" sz="2000" dirty="0"/>
          </a:p>
          <a:p>
            <a:r>
              <a:rPr lang="en-US" sz="2000" dirty="0"/>
              <a:t>Using separate applications for calls, location sharing, and emergency contacts can take additional time.</a:t>
            </a:r>
            <a:endParaRPr lang="en-US" sz="2000" dirty="0"/>
          </a:p>
          <a:p>
            <a:r>
              <a:rPr lang="en-US" sz="2000" dirty="0" err="1"/>
              <a:t>WomenSafety</a:t>
            </a:r>
            <a:r>
              <a:rPr lang="en-US" sz="2000" dirty="0"/>
              <a:t> combines these functions in a single safety platform.</a:t>
            </a:r>
            <a:endParaRPr lang="en-US" sz="2000" dirty="0"/>
          </a:p>
          <a:p>
            <a:r>
              <a:rPr lang="en-US" sz="2000" dirty="0"/>
              <a:t>The system uses GPS to support location-based emergency assistance and provides quick-access safety tools.</a:t>
            </a:r>
            <a:endParaRPr lang="en-US" sz="2000" dirty="0"/>
          </a:p>
          <a:p>
            <a:r>
              <a:rPr lang="en-US" sz="2000" dirty="0"/>
              <a:t>The main aim is to make emergency response simpler, faster, and more organized</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5279"/>
            <a:ext cx="10515600" cy="1280160"/>
          </a:xfrm>
        </p:spPr>
        <p:txBody>
          <a:bodyPr>
            <a:normAutofit/>
          </a:bodyPr>
          <a:lstStyle/>
          <a:p>
            <a:pPr algn="ctr"/>
            <a:r>
              <a:rPr lang="en-US" altLang="en-US" sz="3200" b="1" dirty="0">
                <a:solidFill>
                  <a:srgbClr val="0070C0"/>
                </a:solidFill>
                <a:latin typeface="Times New Roman" panose="02020603050405020304" charset="0"/>
                <a:cs typeface="Times New Roman" panose="02020603050405020304" charset="0"/>
              </a:rPr>
              <a:t>SYSTEM ARCHITECTURE</a:t>
            </a:r>
            <a:endParaRPr lang="en-US" altLang="en-US" sz="3200" b="1" dirty="0">
              <a:solidFill>
                <a:srgbClr val="0070C0"/>
              </a:solidFill>
              <a:latin typeface="Times New Roman" panose="02020603050405020304" charset="0"/>
              <a:cs typeface="Times New Roman" panose="02020603050405020304" charset="0"/>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pic>
        <p:nvPicPr>
          <p:cNvPr id="7" name="Picture 7" descr="Screenshot 2026-10-01 085015"/>
          <p:cNvPicPr>
            <a:picLocks noChangeAspect="1"/>
          </p:cNvPicPr>
          <p:nvPr/>
        </p:nvPicPr>
        <p:blipFill>
          <a:blip r:embed="rId1"/>
          <a:stretch>
            <a:fillRect/>
          </a:stretch>
        </p:blipFill>
        <p:spPr>
          <a:xfrm>
            <a:off x="1925955" y="883920"/>
            <a:ext cx="8515350" cy="54730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solidFill>
                  <a:schemeClr val="accent1"/>
                </a:solidFill>
                <a:latin typeface="Times New Roman" panose="02020603050405020304" charset="0"/>
                <a:cs typeface="Times New Roman" panose="02020603050405020304" charset="0"/>
                <a:sym typeface="+mn-ea"/>
              </a:rPr>
              <a:t>Problem Statement:</a:t>
            </a:r>
            <a:endParaRPr lang="en-US" sz="3200" b="1" dirty="0">
              <a:solidFill>
                <a:schemeClr val="accent1"/>
              </a:solidFill>
              <a:latin typeface="Times New Roman" panose="02020603050405020304" charset="0"/>
              <a:cs typeface="Times New Roman" panose="02020603050405020304" charset="0"/>
              <a:sym typeface="+mn-ea"/>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4" name="Content Placeholder 3"/>
          <p:cNvSpPr>
            <a:spLocks noGrp="1"/>
          </p:cNvSpPr>
          <p:nvPr>
            <p:ph idx="1"/>
          </p:nvPr>
        </p:nvSpPr>
        <p:spPr>
          <a:xfrm>
            <a:off x="838200" y="1825624"/>
            <a:ext cx="10515600" cy="4751021"/>
          </a:xfrm>
        </p:spPr>
        <p:txBody>
          <a:bodyPr>
            <a:normAutofit/>
          </a:bodyPr>
          <a:lstStyle/>
          <a:p>
            <a:r>
              <a:rPr lang="en-US" sz="2200" dirty="0"/>
              <a:t>Develop a simple and integrated safety system that can help users respond quickly during emergency situations.</a:t>
            </a:r>
            <a:endParaRPr lang="en-US" sz="2200" dirty="0"/>
          </a:p>
          <a:p>
            <a:r>
              <a:rPr lang="en-US" sz="2200" dirty="0"/>
              <a:t>Major Problems:</a:t>
            </a:r>
            <a:endParaRPr lang="en-US" sz="2200" dirty="0"/>
          </a:p>
          <a:p>
            <a:r>
              <a:rPr lang="en-US" sz="2200" dirty="0"/>
              <a:t> Emergency actions may require multiple apps or steps.</a:t>
            </a:r>
            <a:endParaRPr lang="en-US" sz="2200" dirty="0"/>
          </a:p>
          <a:p>
            <a:r>
              <a:rPr lang="en-US" sz="2200" dirty="0"/>
              <a:t> Live location sharing is not always integrated with emergency alerts.</a:t>
            </a:r>
            <a:endParaRPr lang="en-US" sz="2200" dirty="0"/>
          </a:p>
          <a:p>
            <a:r>
              <a:rPr lang="en-US" sz="2200" dirty="0"/>
              <a:t> Managing emergency contacts manually can delay communication.</a:t>
            </a:r>
            <a:endParaRPr lang="en-US" sz="2200" dirty="0"/>
          </a:p>
          <a:p>
            <a:r>
              <a:rPr lang="en-US" sz="2200" dirty="0"/>
              <a:t> Users may not have safety timers, safe zones, or check-ins in one place.</a:t>
            </a:r>
            <a:endParaRPr lang="en-US" sz="2200" dirty="0"/>
          </a:p>
          <a:p>
            <a:r>
              <a:rPr lang="en-US" sz="2200" dirty="0"/>
              <a:t> Emergency tools should be easy to access when the user is under stress.</a:t>
            </a:r>
            <a:endParaRPr lang="en-US" sz="2200"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061"/>
            <a:ext cx="10515600" cy="1336430"/>
          </a:xfrm>
        </p:spPr>
        <p:txBody>
          <a:bodyPr>
            <a:normAutofit/>
          </a:bodyPr>
          <a:lstStyle/>
          <a:p>
            <a:pPr algn="ctr"/>
            <a:r>
              <a:rPr lang="en-IN" sz="3200" b="1" dirty="0">
                <a:solidFill>
                  <a:srgbClr val="0070C0"/>
                </a:solidFill>
                <a:latin typeface="Times New Roman" panose="02020603050405020304" charset="0"/>
                <a:cs typeface="Times New Roman" panose="02020603050405020304" charset="0"/>
              </a:rPr>
              <a:t>SOLUTION(Contribution)</a:t>
            </a:r>
            <a:endParaRPr lang="en-IN" sz="3200" dirty="0">
              <a:solidFill>
                <a:srgbClr val="0070C0"/>
              </a:solidFill>
              <a:latin typeface="Times New Roman" panose="02020603050405020304" charset="0"/>
              <a:cs typeface="Times New Roman" panose="02020603050405020304" charset="0"/>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4" name="Content Placeholder 3"/>
          <p:cNvSpPr>
            <a:spLocks noGrp="1"/>
          </p:cNvSpPr>
          <p:nvPr>
            <p:ph idx="1"/>
          </p:nvPr>
        </p:nvSpPr>
        <p:spPr>
          <a:xfrm>
            <a:off x="838200" y="1101970"/>
            <a:ext cx="10515600" cy="5756030"/>
          </a:xfrm>
        </p:spPr>
        <p:txBody>
          <a:bodyPr>
            <a:normAutofit fontScale="85000" lnSpcReduction="20000"/>
          </a:bodyPr>
          <a:lstStyle/>
          <a:p>
            <a:r>
              <a:rPr lang="en-US" b="1" dirty="0"/>
              <a:t>Proposed Solution:</a:t>
            </a:r>
            <a:endParaRPr lang="en-US" dirty="0"/>
          </a:p>
          <a:p>
            <a:r>
              <a:rPr lang="en-US" sz="2600" dirty="0"/>
              <a:t>Proposed Solution:</a:t>
            </a:r>
            <a:endParaRPr lang="en-US" sz="2600" dirty="0"/>
          </a:p>
          <a:p>
            <a:r>
              <a:rPr lang="en-US" sz="2600" dirty="0"/>
              <a:t>Develop </a:t>
            </a:r>
            <a:r>
              <a:rPr lang="en-US" sz="2600" dirty="0" err="1"/>
              <a:t>WomenSafety</a:t>
            </a:r>
            <a:r>
              <a:rPr lang="en-US" sz="2600" dirty="0"/>
              <a:t> as a single personal safety platform.</a:t>
            </a:r>
            <a:endParaRPr lang="en-US" sz="2600" dirty="0"/>
          </a:p>
          <a:p>
            <a:r>
              <a:rPr lang="en-US" sz="2600" dirty="0"/>
              <a:t>Allow users to register and maintain trusted emergency contacts.</a:t>
            </a:r>
            <a:endParaRPr lang="en-US" sz="2600" dirty="0"/>
          </a:p>
          <a:p>
            <a:r>
              <a:rPr lang="en-US" sz="2600" dirty="0"/>
              <a:t>Provide Normal SOS and Secret SOS for emergency situations.</a:t>
            </a:r>
            <a:endParaRPr lang="en-US" sz="2600" dirty="0"/>
          </a:p>
          <a:p>
            <a:r>
              <a:rPr lang="en-US" sz="2600" dirty="0"/>
              <a:t>Use GPS/Google Maps for location-based support.</a:t>
            </a:r>
            <a:endParaRPr lang="en-US" sz="2600" dirty="0"/>
          </a:p>
          <a:p>
            <a:r>
              <a:rPr lang="en-US" sz="2600" dirty="0"/>
              <a:t>Provide safety timer, check-ins, safe zones, and fake call features.</a:t>
            </a:r>
            <a:endParaRPr lang="en-US" sz="2600" dirty="0"/>
          </a:p>
          <a:p>
            <a:r>
              <a:rPr lang="en-US" sz="2600" dirty="0"/>
              <a:t>Store and manage user and emergency information securely.</a:t>
            </a:r>
            <a:endParaRPr lang="en-US" sz="2600" dirty="0"/>
          </a:p>
          <a:p>
            <a:endParaRPr lang="en-US" sz="2600" dirty="0"/>
          </a:p>
          <a:p>
            <a:r>
              <a:rPr lang="en-US" sz="2600" b="1" dirty="0"/>
              <a:t>Contribution:</a:t>
            </a:r>
            <a:endParaRPr lang="en-US" sz="2600" b="1" dirty="0"/>
          </a:p>
          <a:p>
            <a:r>
              <a:rPr lang="en-US" sz="2600" dirty="0"/>
              <a:t> One-platform safety solution</a:t>
            </a:r>
            <a:endParaRPr lang="en-US" sz="2600" dirty="0"/>
          </a:p>
          <a:p>
            <a:r>
              <a:rPr lang="en-US" sz="2600" dirty="0"/>
              <a:t> Quick emergency response</a:t>
            </a:r>
            <a:endParaRPr lang="en-US" sz="2600" dirty="0"/>
          </a:p>
          <a:p>
            <a:r>
              <a:rPr lang="en-US" sz="2600" dirty="0"/>
              <a:t> Location-aware assistance</a:t>
            </a:r>
            <a:endParaRPr lang="en-US" sz="2600" dirty="0"/>
          </a:p>
          <a:p>
            <a:r>
              <a:rPr lang="en-US" sz="2600" dirty="0"/>
              <a:t> Trusted-contact alerts</a:t>
            </a:r>
            <a:endParaRPr lang="en-US" sz="2600" dirty="0"/>
          </a:p>
          <a:p>
            <a:r>
              <a:rPr lang="en-US" sz="2600" dirty="0"/>
              <a:t> Multiple preventive and emergency safety tools</a:t>
            </a:r>
            <a:r>
              <a:rPr lang="en-US" dirty="0"/>
              <a:t>.</a:t>
            </a:r>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solidFill>
                  <a:srgbClr val="0070C0"/>
                </a:solidFill>
                <a:latin typeface="Times New Roman" panose="02020603050405020304" charset="0"/>
                <a:cs typeface="Times New Roman" panose="02020603050405020304" charset="0"/>
              </a:rPr>
              <a:t>Objectives</a:t>
            </a:r>
            <a:r>
              <a:rPr lang="en-IN" sz="3600" b="1" dirty="0">
                <a:solidFill>
                  <a:srgbClr val="0070C0"/>
                </a:solidFill>
              </a:rPr>
              <a:t> </a:t>
            </a:r>
            <a:endParaRPr lang="en-IN" sz="3600" dirty="0">
              <a:solidFill>
                <a:srgbClr val="0070C0"/>
              </a:solidFill>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4" name="Content Placeholder 3"/>
          <p:cNvSpPr>
            <a:spLocks noGrp="1"/>
          </p:cNvSpPr>
          <p:nvPr>
            <p:ph idx="1"/>
          </p:nvPr>
        </p:nvSpPr>
        <p:spPr>
          <a:xfrm>
            <a:off x="927735" y="1762320"/>
            <a:ext cx="10515600" cy="4899148"/>
          </a:xfrm>
        </p:spPr>
        <p:txBody>
          <a:bodyPr/>
          <a:lstStyle/>
          <a:p>
            <a:r>
              <a:rPr lang="en-US" sz="2000" dirty="0"/>
              <a:t>To develop an integrated personal safety application.</a:t>
            </a:r>
            <a:endParaRPr lang="en-US" sz="2000" dirty="0"/>
          </a:p>
          <a:p>
            <a:r>
              <a:rPr lang="en-US" sz="2000" dirty="0"/>
              <a:t>• To provide quick Normal SOS and Secret SOS functionality.</a:t>
            </a:r>
            <a:endParaRPr lang="en-US" sz="2000" dirty="0"/>
          </a:p>
          <a:p>
            <a:r>
              <a:rPr lang="en-US" sz="2000" dirty="0"/>
              <a:t>• To share the user's live GPS location during emergencies.</a:t>
            </a:r>
            <a:endParaRPr lang="en-US" sz="2000" dirty="0"/>
          </a:p>
          <a:p>
            <a:r>
              <a:rPr lang="en-US" sz="2000" dirty="0"/>
              <a:t>• To manage priority-based emergency contacts and alerts.</a:t>
            </a:r>
            <a:endParaRPr lang="en-US" sz="2000" dirty="0"/>
          </a:p>
          <a:p>
            <a:r>
              <a:rPr lang="en-US" sz="2000" dirty="0"/>
              <a:t>• To provide safety timers, safe zones, and safety check-ins.</a:t>
            </a:r>
            <a:endParaRPr lang="en-US" sz="2000" dirty="0"/>
          </a:p>
          <a:p>
            <a:r>
              <a:rPr lang="en-US" sz="2000" dirty="0"/>
              <a:t>• To include a fake call feature for personal safety situations.</a:t>
            </a:r>
            <a:endParaRPr lang="en-US" sz="2000" dirty="0"/>
          </a:p>
          <a:p>
            <a:r>
              <a:rPr lang="en-US" sz="2000" dirty="0"/>
              <a:t>• To make emergency features simple and easy to access.</a:t>
            </a:r>
            <a:endParaRPr lang="en-US" sz="2000"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6290" y="-316523"/>
            <a:ext cx="10515600" cy="1430215"/>
          </a:xfrm>
        </p:spPr>
        <p:txBody>
          <a:bodyPr>
            <a:normAutofit/>
          </a:bodyPr>
          <a:lstStyle/>
          <a:p>
            <a:pPr algn="ctr"/>
            <a:r>
              <a:rPr lang="en-IN" sz="3600" b="1" dirty="0">
                <a:solidFill>
                  <a:srgbClr val="0070C0"/>
                </a:solidFill>
                <a:latin typeface="Times New Roman" panose="02020603050405020304" charset="0"/>
                <a:cs typeface="Times New Roman" panose="02020603050405020304" charset="0"/>
              </a:rPr>
              <a:t>Modules</a:t>
            </a:r>
            <a:endParaRPr lang="en-IN" sz="3600" dirty="0">
              <a:solidFill>
                <a:srgbClr val="0070C0"/>
              </a:solidFill>
              <a:latin typeface="Times New Roman" panose="02020603050405020304" charset="0"/>
              <a:cs typeface="Times New Roman" panose="02020603050405020304" charset="0"/>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4" name="Content Placeholder 3"/>
          <p:cNvSpPr>
            <a:spLocks noGrp="1"/>
          </p:cNvSpPr>
          <p:nvPr>
            <p:ph idx="1"/>
          </p:nvPr>
        </p:nvSpPr>
        <p:spPr>
          <a:xfrm>
            <a:off x="838200" y="750277"/>
            <a:ext cx="10515600" cy="6353908"/>
          </a:xfrm>
        </p:spPr>
        <p:txBody>
          <a:bodyPr>
            <a:normAutofit fontScale="77500" lnSpcReduction="20000"/>
          </a:bodyPr>
          <a:lstStyle/>
          <a:p>
            <a:pPr marL="0" indent="0">
              <a:buNone/>
            </a:pPr>
            <a:r>
              <a:rPr lang="en-US" b="1" dirty="0"/>
              <a:t> </a:t>
            </a:r>
            <a:r>
              <a:rPr lang="en-US" dirty="0"/>
              <a:t>1. User Authentication Module</a:t>
            </a:r>
            <a:endParaRPr lang="en-US" dirty="0"/>
          </a:p>
          <a:p>
            <a:r>
              <a:rPr lang="en-US" dirty="0"/>
              <a:t>User registration and login with secure access.</a:t>
            </a:r>
            <a:endParaRPr lang="en-US" dirty="0"/>
          </a:p>
          <a:p>
            <a:endParaRPr lang="en-US" dirty="0"/>
          </a:p>
          <a:p>
            <a:pPr marL="0" indent="0">
              <a:buNone/>
            </a:pPr>
            <a:r>
              <a:rPr lang="en-US" dirty="0"/>
              <a:t>2. Emergency SOS Module</a:t>
            </a:r>
            <a:endParaRPr lang="en-US" dirty="0"/>
          </a:p>
          <a:p>
            <a:r>
              <a:rPr lang="en-US" dirty="0"/>
              <a:t>Normal SOS and Secret SOS for quick emergency response.</a:t>
            </a:r>
            <a:endParaRPr lang="en-US" dirty="0"/>
          </a:p>
          <a:p>
            <a:endParaRPr lang="en-US" dirty="0"/>
          </a:p>
          <a:p>
            <a:pPr marL="0" indent="0">
              <a:buNone/>
            </a:pPr>
            <a:r>
              <a:rPr lang="en-US" dirty="0"/>
              <a:t>3. Location &amp; Map Module</a:t>
            </a:r>
            <a:endParaRPr lang="en-US" dirty="0"/>
          </a:p>
          <a:p>
            <a:r>
              <a:rPr lang="en-US" dirty="0"/>
              <a:t>GPS-based location and map support.</a:t>
            </a:r>
            <a:endParaRPr lang="en-US" dirty="0"/>
          </a:p>
          <a:p>
            <a:endParaRPr lang="en-US" dirty="0"/>
          </a:p>
          <a:p>
            <a:pPr marL="0" indent="0">
              <a:buNone/>
            </a:pPr>
            <a:r>
              <a:rPr lang="en-US" dirty="0"/>
              <a:t>4. Emergency Contacts Module</a:t>
            </a:r>
            <a:endParaRPr lang="en-US" dirty="0"/>
          </a:p>
          <a:p>
            <a:r>
              <a:rPr lang="en-US" dirty="0"/>
              <a:t>Priority-based trusted contacts and emergency alerts.</a:t>
            </a:r>
            <a:endParaRPr lang="en-US" dirty="0"/>
          </a:p>
          <a:p>
            <a:endParaRPr lang="en-US" dirty="0"/>
          </a:p>
          <a:p>
            <a:pPr marL="0" indent="0">
              <a:buNone/>
            </a:pPr>
            <a:r>
              <a:rPr lang="en-US" dirty="0"/>
              <a:t>5. Safety Monitoring Module</a:t>
            </a:r>
            <a:endParaRPr lang="en-US" dirty="0"/>
          </a:p>
          <a:p>
            <a:r>
              <a:rPr lang="en-US" dirty="0"/>
              <a:t>Safety Timer, Safe Zones, and “I’m Safe” check-ins.</a:t>
            </a:r>
            <a:endParaRPr lang="en-US" dirty="0"/>
          </a:p>
          <a:p>
            <a:endParaRPr lang="en-US" dirty="0"/>
          </a:p>
          <a:p>
            <a:pPr marL="0" indent="0">
              <a:buNone/>
            </a:pPr>
            <a:r>
              <a:rPr lang="en-US" dirty="0"/>
              <a:t>6. Safety Tools Module</a:t>
            </a:r>
            <a:endParaRPr lang="en-US" dirty="0"/>
          </a:p>
          <a:p>
            <a:r>
              <a:rPr lang="en-US" dirty="0"/>
              <a:t>Fake Call and other quick-access safety features.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600" b="1">
                <a:solidFill>
                  <a:schemeClr val="accent1"/>
                </a:solidFill>
                <a:latin typeface="Times New Roman" panose="02020603050405020304" charset="0"/>
                <a:cs typeface="Times New Roman" panose="02020603050405020304" charset="0"/>
              </a:rPr>
              <a:t>IR DIAGRAM</a:t>
            </a:r>
            <a:endParaRPr lang="en-US" sz="3600" b="1">
              <a:solidFill>
                <a:schemeClr val="accent1"/>
              </a:solidFill>
              <a:latin typeface="Times New Roman" panose="02020603050405020304" charset="0"/>
              <a:cs typeface="Times New Roman" panose="02020603050405020304" charset="0"/>
            </a:endParaRPr>
          </a:p>
        </p:txBody>
      </p:sp>
      <p:sp>
        <p:nvSpPr>
          <p:cNvPr id="4" name="Date Placeholder 3"/>
          <p:cNvSpPr>
            <a:spLocks noGrp="1"/>
          </p:cNvSpPr>
          <p:nvPr>
            <p:ph type="dt" sz="half" idx="10"/>
          </p:nvPr>
        </p:nvSpPr>
        <p:spPr/>
        <p:txBody>
          <a:bodyPr/>
          <a:p>
            <a:fld id="{3C447009-55DF-4EA5-900B-29AFB7C8438A}" type="datetime1">
              <a:rPr lang="en-IN" smtClean="0"/>
            </a:fld>
            <a:endParaRPr lang="en-US"/>
          </a:p>
        </p:txBody>
      </p:sp>
      <p:sp>
        <p:nvSpPr>
          <p:cNvPr id="5" name="Footer Placeholder 4"/>
          <p:cNvSpPr>
            <a:spLocks noGrp="1"/>
          </p:cNvSpPr>
          <p:nvPr>
            <p:ph type="ftr" sz="quarter" idx="11"/>
          </p:nvPr>
        </p:nvSpPr>
        <p:spPr/>
        <p:txBody>
          <a:bodyPr/>
          <a:p>
            <a:r>
              <a:rPr lang="en-US"/>
              <a:t>0th REVIEW           </a:t>
            </a:r>
            <a:endParaRPr lang="en-US"/>
          </a:p>
        </p:txBody>
      </p:sp>
      <p:sp>
        <p:nvSpPr>
          <p:cNvPr id="6" name="Slide Number Placeholder 5"/>
          <p:cNvSpPr>
            <a:spLocks noGrp="1"/>
          </p:cNvSpPr>
          <p:nvPr>
            <p:ph type="sldNum" sz="quarter" idx="12"/>
          </p:nvPr>
        </p:nvSpPr>
        <p:spPr/>
        <p:txBody>
          <a:bodyPr/>
          <a:p>
            <a:fld id="{B961B71F-4B40-8942-BB88-E0F5C0B46E10}" type="slidenum">
              <a:rPr lang="en-US" smtClean="0"/>
            </a:fld>
            <a:endParaRPr lang="en-US"/>
          </a:p>
        </p:txBody>
      </p:sp>
      <p:pic>
        <p:nvPicPr>
          <p:cNvPr id="7" name="Picture 6" descr="Screenshot 2026-10-01 091041"/>
          <p:cNvPicPr>
            <a:picLocks noChangeAspect="1"/>
          </p:cNvPicPr>
          <p:nvPr/>
        </p:nvPicPr>
        <p:blipFill>
          <a:blip r:embed="rId1"/>
          <a:stretch>
            <a:fillRect/>
          </a:stretch>
        </p:blipFill>
        <p:spPr>
          <a:xfrm>
            <a:off x="1844675" y="1549400"/>
            <a:ext cx="9075420" cy="44462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6185"/>
            <a:ext cx="10515600" cy="492369"/>
          </a:xfrm>
        </p:spPr>
        <p:txBody>
          <a:bodyPr>
            <a:normAutofit fontScale="90000"/>
          </a:bodyPr>
          <a:lstStyle/>
          <a:p>
            <a:pPr algn="ctr"/>
            <a:r>
              <a:rPr lang="en-IN" sz="3200" b="1" dirty="0">
                <a:solidFill>
                  <a:srgbClr val="0070C0"/>
                </a:solidFill>
                <a:latin typeface="Times New Roman" panose="02020603050405020304" charset="0"/>
                <a:cs typeface="Times New Roman" panose="02020603050405020304" charset="0"/>
              </a:rPr>
              <a:t>SOFTWARE REQUIREMENTS </a:t>
            </a:r>
            <a:endParaRPr lang="en-IN" sz="3200" dirty="0">
              <a:solidFill>
                <a:srgbClr val="0070C0"/>
              </a:solidFill>
              <a:latin typeface="Times New Roman" panose="02020603050405020304" charset="0"/>
              <a:cs typeface="Times New Roman" panose="02020603050405020304" charset="0"/>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4" name="Content Placeholder 3"/>
          <p:cNvSpPr>
            <a:spLocks noGrp="1"/>
          </p:cNvSpPr>
          <p:nvPr>
            <p:ph idx="1"/>
          </p:nvPr>
        </p:nvSpPr>
        <p:spPr>
          <a:xfrm>
            <a:off x="838200" y="816078"/>
            <a:ext cx="10515600" cy="5795738"/>
          </a:xfrm>
        </p:spPr>
        <p:txBody>
          <a:bodyPr>
            <a:normAutofit fontScale="47500" lnSpcReduction="20000"/>
          </a:bodyPr>
          <a:lstStyle/>
          <a:p>
            <a:pPr algn="ctr"/>
            <a:r>
              <a:rPr lang="en-IN" dirty="0"/>
              <a:t>Programming Language</a:t>
            </a:r>
            <a:endParaRPr lang="en-IN" dirty="0"/>
          </a:p>
          <a:p>
            <a:pPr algn="ctr"/>
            <a:r>
              <a:rPr lang="en-IN" dirty="0"/>
              <a:t>JavaScript</a:t>
            </a:r>
            <a:endParaRPr lang="en-IN" dirty="0"/>
          </a:p>
          <a:p>
            <a:pPr algn="ctr"/>
            <a:endParaRPr lang="en-IN" dirty="0"/>
          </a:p>
          <a:p>
            <a:pPr algn="ctr"/>
            <a:r>
              <a:rPr lang="en-IN" dirty="0"/>
              <a:t>Mobile Framework</a:t>
            </a:r>
            <a:endParaRPr lang="en-IN" dirty="0"/>
          </a:p>
          <a:p>
            <a:pPr algn="ctr"/>
            <a:r>
              <a:rPr lang="en-IN" dirty="0"/>
              <a:t>React Native + Expo</a:t>
            </a:r>
            <a:endParaRPr lang="en-IN" dirty="0"/>
          </a:p>
          <a:p>
            <a:pPr algn="ctr"/>
            <a:endParaRPr lang="en-IN" dirty="0"/>
          </a:p>
          <a:p>
            <a:pPr algn="ctr"/>
            <a:r>
              <a:rPr lang="en-IN" dirty="0"/>
              <a:t>Backend</a:t>
            </a:r>
            <a:endParaRPr lang="en-IN" dirty="0"/>
          </a:p>
          <a:p>
            <a:pPr algn="ctr"/>
            <a:r>
              <a:rPr lang="en-IN" dirty="0"/>
              <a:t>Node.js + Express.js</a:t>
            </a:r>
            <a:endParaRPr lang="en-IN" dirty="0"/>
          </a:p>
          <a:p>
            <a:pPr algn="ctr"/>
            <a:endParaRPr lang="en-IN" dirty="0"/>
          </a:p>
          <a:p>
            <a:pPr algn="ctr"/>
            <a:r>
              <a:rPr lang="en-IN" dirty="0"/>
              <a:t>Database</a:t>
            </a:r>
            <a:endParaRPr lang="en-IN" dirty="0"/>
          </a:p>
          <a:p>
            <a:pPr algn="ctr"/>
            <a:r>
              <a:rPr lang="en-IN" dirty="0"/>
              <a:t>MySQL</a:t>
            </a:r>
            <a:endParaRPr lang="en-IN" dirty="0"/>
          </a:p>
          <a:p>
            <a:pPr algn="ctr"/>
            <a:endParaRPr lang="en-IN" dirty="0"/>
          </a:p>
          <a:p>
            <a:pPr algn="ctr"/>
            <a:r>
              <a:rPr lang="en-IN" dirty="0"/>
              <a:t>Location Services</a:t>
            </a:r>
            <a:endParaRPr lang="en-IN" dirty="0"/>
          </a:p>
          <a:p>
            <a:pPr algn="ctr"/>
            <a:r>
              <a:rPr lang="en-IN" dirty="0"/>
              <a:t>GPS + Google Maps</a:t>
            </a:r>
            <a:endParaRPr lang="en-IN" dirty="0"/>
          </a:p>
          <a:p>
            <a:pPr algn="ctr"/>
            <a:endParaRPr lang="en-IN" dirty="0"/>
          </a:p>
          <a:p>
            <a:pPr algn="ctr"/>
            <a:r>
              <a:rPr lang="en-IN" dirty="0"/>
              <a:t>Authentication &amp; Security</a:t>
            </a:r>
            <a:endParaRPr lang="en-IN" dirty="0"/>
          </a:p>
          <a:p>
            <a:pPr algn="ctr"/>
            <a:r>
              <a:rPr lang="en-IN" dirty="0"/>
              <a:t>JWT Authentication</a:t>
            </a:r>
            <a:endParaRPr lang="en-IN" dirty="0"/>
          </a:p>
          <a:p>
            <a:pPr algn="ctr"/>
            <a:endParaRPr lang="en-IN" dirty="0"/>
          </a:p>
          <a:p>
            <a:pPr algn="ctr"/>
            <a:r>
              <a:rPr lang="en-IN" dirty="0"/>
              <a:t>Development Tools</a:t>
            </a:r>
            <a:endParaRPr lang="en-IN" dirty="0"/>
          </a:p>
          <a:p>
            <a:pPr algn="ctr"/>
            <a:r>
              <a:rPr lang="en-IN" dirty="0"/>
              <a:t>VS Code</a:t>
            </a:r>
            <a:endParaRPr lang="en-IN" dirty="0"/>
          </a:p>
          <a:p>
            <a:pPr algn="ctr"/>
            <a:r>
              <a:rPr lang="en-IN" dirty="0"/>
              <a:t>Git &amp; GitHub</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42315" y="36830"/>
            <a:ext cx="10515600" cy="1325563"/>
          </a:xfrm>
        </p:spPr>
        <p:txBody>
          <a:bodyPr/>
          <a:p>
            <a:pPr algn="ctr"/>
            <a:r>
              <a:rPr lang="en-US" altLang="en-US" sz="3600">
                <a:solidFill>
                  <a:schemeClr val="accent1"/>
                </a:solidFill>
                <a:latin typeface="Times New Roman" panose="02020603050405020304" charset="0"/>
                <a:cs typeface="Times New Roman" panose="02020603050405020304" charset="0"/>
              </a:rPr>
              <a:t>Screenshots of the app</a:t>
            </a:r>
            <a:endParaRPr lang="en-US" altLang="en-US" sz="3600">
              <a:solidFill>
                <a:schemeClr val="accent1"/>
              </a:solidFill>
              <a:latin typeface="Times New Roman" panose="02020603050405020304" charset="0"/>
              <a:cs typeface="Times New Roman" panose="02020603050405020304" charset="0"/>
            </a:endParaRPr>
          </a:p>
        </p:txBody>
      </p:sp>
      <p:pic>
        <p:nvPicPr>
          <p:cNvPr id="8" name="Picture 1"/>
          <p:cNvPicPr>
            <a:picLocks noChangeAspect="1"/>
          </p:cNvPicPr>
          <p:nvPr>
            <p:ph idx="1"/>
          </p:nvPr>
        </p:nvPicPr>
        <p:blipFill>
          <a:blip r:embed="rId1"/>
          <a:stretch>
            <a:fillRect/>
          </a:stretch>
        </p:blipFill>
        <p:spPr>
          <a:xfrm>
            <a:off x="338455" y="1252855"/>
            <a:ext cx="6121400" cy="4351655"/>
          </a:xfrm>
          <a:prstGeom prst="rect">
            <a:avLst/>
          </a:prstGeom>
          <a:noFill/>
          <a:ln>
            <a:noFill/>
          </a:ln>
        </p:spPr>
      </p:pic>
      <p:sp>
        <p:nvSpPr>
          <p:cNvPr id="4" name="Date Placeholder 3"/>
          <p:cNvSpPr>
            <a:spLocks noGrp="1"/>
          </p:cNvSpPr>
          <p:nvPr>
            <p:ph type="dt" sz="half" idx="10"/>
          </p:nvPr>
        </p:nvSpPr>
        <p:spPr/>
        <p:txBody>
          <a:bodyPr/>
          <a:p>
            <a:fld id="{3C447009-55DF-4EA5-900B-29AFB7C8438A}" type="datetime1">
              <a:rPr lang="en-IN" smtClean="0"/>
            </a:fld>
            <a:endParaRPr lang="en-US"/>
          </a:p>
        </p:txBody>
      </p:sp>
      <p:sp>
        <p:nvSpPr>
          <p:cNvPr id="5" name="Footer Placeholder 4"/>
          <p:cNvSpPr>
            <a:spLocks noGrp="1"/>
          </p:cNvSpPr>
          <p:nvPr>
            <p:ph type="ftr" sz="quarter" idx="11"/>
          </p:nvPr>
        </p:nvSpPr>
        <p:spPr/>
        <p:txBody>
          <a:bodyPr/>
          <a:p>
            <a:r>
              <a:rPr lang="en-US"/>
              <a:t>0th REVIEW           </a:t>
            </a:r>
            <a:endParaRPr lang="en-US"/>
          </a:p>
        </p:txBody>
      </p:sp>
      <p:sp>
        <p:nvSpPr>
          <p:cNvPr id="6" name="Slide Number Placeholder 5"/>
          <p:cNvSpPr>
            <a:spLocks noGrp="1"/>
          </p:cNvSpPr>
          <p:nvPr>
            <p:ph type="sldNum" sz="quarter" idx="12"/>
          </p:nvPr>
        </p:nvSpPr>
        <p:spPr/>
        <p:txBody>
          <a:bodyPr/>
          <a:p>
            <a:fld id="{B961B71F-4B40-8942-BB88-E0F5C0B46E10}" type="slidenum">
              <a:rPr lang="en-US" smtClean="0"/>
            </a:fld>
            <a:endParaRPr lang="en-US"/>
          </a:p>
        </p:txBody>
      </p:sp>
      <p:pic>
        <p:nvPicPr>
          <p:cNvPr id="11" name="Picture 2"/>
          <p:cNvPicPr>
            <a:picLocks noChangeAspect="1"/>
          </p:cNvPicPr>
          <p:nvPr/>
        </p:nvPicPr>
        <p:blipFill>
          <a:blip r:embed="rId2"/>
          <a:stretch>
            <a:fillRect/>
          </a:stretch>
        </p:blipFill>
        <p:spPr>
          <a:xfrm>
            <a:off x="6762750" y="1253490"/>
            <a:ext cx="5052060" cy="435102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sz="3600" b="1">
                <a:solidFill>
                  <a:schemeClr val="accent1"/>
                </a:solidFill>
                <a:latin typeface="Times New Roman" panose="02020603050405020304" charset="0"/>
                <a:cs typeface="Times New Roman" panose="02020603050405020304" charset="0"/>
              </a:rPr>
              <a:t>Sample code snippets</a:t>
            </a:r>
            <a:endParaRPr lang="en-US" altLang="en-US" sz="3600" b="1">
              <a:solidFill>
                <a:schemeClr val="accent1"/>
              </a:solidFill>
              <a:latin typeface="Times New Roman" panose="02020603050405020304" charset="0"/>
              <a:cs typeface="Times New Roman" panose="02020603050405020304" charset="0"/>
            </a:endParaRPr>
          </a:p>
        </p:txBody>
      </p:sp>
      <p:pic>
        <p:nvPicPr>
          <p:cNvPr id="16" name="Picture 16"/>
          <p:cNvPicPr>
            <a:picLocks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838200" y="1909445"/>
            <a:ext cx="4323080" cy="3520440"/>
          </a:xfrm>
          <a:prstGeom prst="rect">
            <a:avLst/>
          </a:prstGeom>
        </p:spPr>
      </p:pic>
      <p:sp>
        <p:nvSpPr>
          <p:cNvPr id="4" name="Date Placeholder 3"/>
          <p:cNvSpPr>
            <a:spLocks noGrp="1"/>
          </p:cNvSpPr>
          <p:nvPr>
            <p:ph type="dt" sz="half" idx="10"/>
          </p:nvPr>
        </p:nvSpPr>
        <p:spPr/>
        <p:txBody>
          <a:bodyPr/>
          <a:p>
            <a:fld id="{3C447009-55DF-4EA5-900B-29AFB7C8438A}" type="datetime1">
              <a:rPr lang="en-IN" smtClean="0"/>
            </a:fld>
            <a:endParaRPr lang="en-US"/>
          </a:p>
        </p:txBody>
      </p:sp>
      <p:sp>
        <p:nvSpPr>
          <p:cNvPr id="5" name="Footer Placeholder 4"/>
          <p:cNvSpPr>
            <a:spLocks noGrp="1"/>
          </p:cNvSpPr>
          <p:nvPr>
            <p:ph type="ftr" sz="quarter" idx="11"/>
          </p:nvPr>
        </p:nvSpPr>
        <p:spPr/>
        <p:txBody>
          <a:bodyPr/>
          <a:p>
            <a:r>
              <a:rPr lang="en-US"/>
              <a:t>0th REVIEW           </a:t>
            </a:r>
            <a:endParaRPr lang="en-US"/>
          </a:p>
        </p:txBody>
      </p:sp>
      <p:sp>
        <p:nvSpPr>
          <p:cNvPr id="6" name="Slide Number Placeholder 5"/>
          <p:cNvSpPr>
            <a:spLocks noGrp="1"/>
          </p:cNvSpPr>
          <p:nvPr>
            <p:ph type="sldNum" sz="quarter" idx="12"/>
          </p:nvPr>
        </p:nvSpPr>
        <p:spPr/>
        <p:txBody>
          <a:bodyPr/>
          <a:p>
            <a:fld id="{B961B71F-4B40-8942-BB88-E0F5C0B46E10}" type="slidenum">
              <a:rPr lang="en-US" smtClean="0"/>
            </a:fld>
            <a:endParaRPr lang="en-US"/>
          </a:p>
        </p:txBody>
      </p:sp>
      <p:pic>
        <p:nvPicPr>
          <p:cNvPr id="19"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72150" y="1870393"/>
            <a:ext cx="5943600" cy="35591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0869" y="283266"/>
            <a:ext cx="6564573" cy="805366"/>
          </a:xfrm>
        </p:spPr>
        <p:txBody>
          <a:bodyPr anchor="ctr">
            <a:noAutofit/>
          </a:bodyPr>
          <a:lstStyle/>
          <a:p>
            <a:r>
              <a:rPr lang="en-US" sz="2800" b="1" dirty="0">
                <a:solidFill>
                  <a:srgbClr val="0070C0"/>
                </a:solidFill>
                <a:latin typeface="Times New Roman" panose="02020603050405020304" charset="0"/>
                <a:cs typeface="Times New Roman" panose="02020603050405020304" charset="0"/>
              </a:rPr>
              <a:t>CONCLUSION AND FUTURE SCOPE</a:t>
            </a:r>
            <a:endParaRPr lang="en-US" sz="2800" b="1" dirty="0">
              <a:solidFill>
                <a:srgbClr val="0070C0"/>
              </a:solidFill>
              <a:latin typeface="Times New Roman" panose="02020603050405020304" charset="0"/>
              <a:cs typeface="Times New Roman" panose="02020603050405020304" charset="0"/>
            </a:endParaRPr>
          </a:p>
        </p:txBody>
      </p:sp>
      <p:sp>
        <p:nvSpPr>
          <p:cNvPr id="13" name="Slide Number Placeholder 5"/>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fld>
            <a:endParaRPr lang="en-US" dirty="0"/>
          </a:p>
        </p:txBody>
      </p:sp>
      <p:sp>
        <p:nvSpPr>
          <p:cNvPr id="4" name="TextBox 3"/>
          <p:cNvSpPr txBox="1"/>
          <p:nvPr/>
        </p:nvSpPr>
        <p:spPr>
          <a:xfrm>
            <a:off x="549221" y="1015040"/>
            <a:ext cx="10662101" cy="4154170"/>
          </a:xfrm>
          <a:prstGeom prst="rect">
            <a:avLst/>
          </a:prstGeom>
          <a:noFill/>
        </p:spPr>
        <p:txBody>
          <a:bodyPr wrap="square">
            <a:spAutoFit/>
          </a:bodyPr>
          <a:lstStyle/>
          <a:p>
            <a:pPr>
              <a:buNone/>
            </a:pPr>
            <a:r>
              <a:rPr lang="en-US" sz="2000" b="1" dirty="0"/>
              <a:t>Conclusion:</a:t>
            </a:r>
            <a:endParaRPr lang="en-US" sz="2000" b="1" dirty="0"/>
          </a:p>
          <a:p>
            <a:r>
              <a:rPr lang="en-US" sz="2000" dirty="0" err="1"/>
              <a:t>WomenSafety</a:t>
            </a:r>
            <a:r>
              <a:rPr lang="en-US" sz="2000" dirty="0"/>
              <a:t> combines important personal safety features into one application.</a:t>
            </a:r>
            <a:endParaRPr lang="en-US" sz="2000" dirty="0"/>
          </a:p>
          <a:p>
            <a:r>
              <a:rPr lang="en-US" sz="2000" dirty="0"/>
              <a:t>The system provides quick SOS actions, GPS-based location support, emergency contacts, and safety monitoring tools.</a:t>
            </a:r>
            <a:endParaRPr lang="en-US" sz="2000" dirty="0"/>
          </a:p>
          <a:p>
            <a:r>
              <a:rPr lang="en-US" sz="2000" dirty="0"/>
              <a:t>It is designed to reduce the time and effort required to access emergency assistance.</a:t>
            </a:r>
            <a:endParaRPr lang="en-US" sz="2000" dirty="0"/>
          </a:p>
          <a:p>
            <a:endParaRPr lang="en-US" sz="2000" dirty="0"/>
          </a:p>
          <a:p>
            <a:r>
              <a:rPr lang="en-US" sz="2000" b="1" dirty="0"/>
              <a:t>Future Scope:</a:t>
            </a:r>
            <a:endParaRPr lang="en-US" sz="2000" b="1" dirty="0"/>
          </a:p>
          <a:p>
            <a:r>
              <a:rPr lang="en-US" sz="2000" dirty="0"/>
              <a:t>• Add voice-activated emergency actions.</a:t>
            </a:r>
            <a:endParaRPr lang="en-US" sz="2000" dirty="0"/>
          </a:p>
          <a:p>
            <a:r>
              <a:rPr lang="en-US" sz="2000" dirty="0"/>
              <a:t>• Add real-time location tracking for trusted contacts.</a:t>
            </a:r>
            <a:endParaRPr lang="en-US" sz="2000" dirty="0"/>
          </a:p>
          <a:p>
            <a:r>
              <a:rPr lang="en-US" sz="2000" dirty="0"/>
              <a:t>• Add AI-based danger detection and risk alerts.</a:t>
            </a:r>
            <a:endParaRPr lang="en-US" sz="2000" dirty="0"/>
          </a:p>
          <a:p>
            <a:r>
              <a:rPr lang="en-US" sz="2000" dirty="0"/>
              <a:t>• Improve emergency notification and evidence support.</a:t>
            </a:r>
            <a:endParaRPr lang="en-US" sz="2000" dirty="0"/>
          </a:p>
          <a:p>
            <a:r>
              <a:rPr lang="en-US" sz="2000" dirty="0"/>
              <a:t>• Deploy the system as a scalable cloud-based service.</a:t>
            </a:r>
            <a:endParaRPr lang="en-US" sz="2000" dirty="0"/>
          </a:p>
          <a:p>
            <a:pPr>
              <a:buNone/>
            </a:pP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sz="3600" b="1">
                <a:solidFill>
                  <a:schemeClr val="accent1"/>
                </a:solidFill>
                <a:latin typeface="Times New Roman" panose="02020603050405020304" charset="0"/>
                <a:cs typeface="Times New Roman" panose="02020603050405020304" charset="0"/>
              </a:rPr>
              <a:t>Geo Tag photos with guide</a:t>
            </a:r>
            <a:endParaRPr lang="en-US" altLang="en-US" sz="3600" b="1">
              <a:solidFill>
                <a:schemeClr val="accent1"/>
              </a:solidFill>
              <a:latin typeface="Times New Roman" panose="02020603050405020304" charset="0"/>
              <a:cs typeface="Times New Roman" panose="02020603050405020304" charset="0"/>
            </a:endParaRPr>
          </a:p>
        </p:txBody>
      </p:sp>
      <p:pic>
        <p:nvPicPr>
          <p:cNvPr id="15" name="Picture 4"/>
          <p:cNvPicPr>
            <a:picLocks noChangeAspect="1"/>
          </p:cNvPicPr>
          <p:nvPr>
            <p:ph idx="1"/>
          </p:nvPr>
        </p:nvPicPr>
        <p:blipFill>
          <a:blip r:embed="rId1"/>
          <a:stretch>
            <a:fillRect/>
          </a:stretch>
        </p:blipFill>
        <p:spPr>
          <a:xfrm>
            <a:off x="2227580" y="1825625"/>
            <a:ext cx="7735570" cy="4351655"/>
          </a:xfrm>
          <a:prstGeom prst="rect">
            <a:avLst/>
          </a:prstGeom>
          <a:noFill/>
          <a:ln>
            <a:noFill/>
          </a:ln>
        </p:spPr>
      </p:pic>
      <p:sp>
        <p:nvSpPr>
          <p:cNvPr id="4" name="Date Placeholder 3"/>
          <p:cNvSpPr>
            <a:spLocks noGrp="1"/>
          </p:cNvSpPr>
          <p:nvPr>
            <p:ph type="dt" sz="half" idx="10"/>
          </p:nvPr>
        </p:nvSpPr>
        <p:spPr/>
        <p:txBody>
          <a:bodyPr/>
          <a:p>
            <a:fld id="{3C447009-55DF-4EA5-900B-29AFB7C8438A}" type="datetime1">
              <a:rPr lang="en-IN" smtClean="0"/>
            </a:fld>
            <a:endParaRPr lang="en-US"/>
          </a:p>
        </p:txBody>
      </p:sp>
      <p:sp>
        <p:nvSpPr>
          <p:cNvPr id="5" name="Footer Placeholder 4"/>
          <p:cNvSpPr>
            <a:spLocks noGrp="1"/>
          </p:cNvSpPr>
          <p:nvPr>
            <p:ph type="ftr" sz="quarter" idx="11"/>
          </p:nvPr>
        </p:nvSpPr>
        <p:spPr/>
        <p:txBody>
          <a:bodyPr/>
          <a:p>
            <a:r>
              <a:rPr lang="en-US"/>
              <a:t>0th REVIEW           </a:t>
            </a:r>
            <a:endParaRPr lang="en-US"/>
          </a:p>
        </p:txBody>
      </p:sp>
      <p:sp>
        <p:nvSpPr>
          <p:cNvPr id="6" name="Slide Number Placeholder 5"/>
          <p:cNvSpPr>
            <a:spLocks noGrp="1"/>
          </p:cNvSpPr>
          <p:nvPr>
            <p:ph type="sldNum" sz="quarter" idx="12"/>
          </p:nvPr>
        </p:nvSpPr>
        <p:spPr/>
        <p:txBody>
          <a:bodyPr/>
          <a:p>
            <a:fld id="{B961B71F-4B40-8942-BB88-E0F5C0B46E10}"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endParaRPr lang="en-IN" sz="4400" b="1" dirty="0">
              <a:solidFill>
                <a:srgbClr val="0070C0"/>
              </a:solidFill>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4864</Words>
  <Application>WPS Presentation</Application>
  <PresentationFormat>Widescreen</PresentationFormat>
  <Paragraphs>245</Paragraphs>
  <Slides>16</Slides>
  <Notes>10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16</vt:i4>
      </vt:variant>
    </vt:vector>
  </HeadingPairs>
  <TitlesOfParts>
    <vt:vector size="26" baseType="lpstr">
      <vt:lpstr>Arial</vt:lpstr>
      <vt:lpstr>SimSun</vt:lpstr>
      <vt:lpstr>Wingdings</vt:lpstr>
      <vt:lpstr>Calibri</vt:lpstr>
      <vt:lpstr>Microsoft YaHei</vt:lpstr>
      <vt:lpstr>Arial Unicode MS</vt:lpstr>
      <vt:lpstr>Calibri Light</vt:lpstr>
      <vt:lpstr>Times New Roman</vt:lpstr>
      <vt:lpstr>Office Theme</vt:lpstr>
      <vt:lpstr>Custom Design</vt:lpstr>
      <vt:lpstr> Secure Distributed Backend System for Web Vulnerability Detection </vt:lpstr>
      <vt:lpstr>GROUP NUMBER:1</vt:lpstr>
      <vt:lpstr>ABSTRACT</vt:lpstr>
      <vt:lpstr>INTRDOUCTION</vt:lpstr>
      <vt:lpstr>EXISTING SYSTEM</vt:lpstr>
      <vt:lpstr>PROBLEM</vt:lpstr>
      <vt:lpstr>SOLUTION(Contribution)</vt:lpstr>
      <vt:lpstr>Objectives </vt:lpstr>
      <vt:lpstr>Modules</vt:lpstr>
      <vt:lpstr>PowerPoint 演示文稿</vt:lpstr>
      <vt:lpstr>SOFTWARE REQUIREMENTS </vt:lpstr>
      <vt:lpstr>PowerPoint 演示文稿</vt:lpstr>
      <vt:lpstr>PowerPoint 演示文稿</vt:lpstr>
      <vt:lpstr>CONCLUSION AND FUTURE SCOPE</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Joshi rushitha Kasthuri</cp:lastModifiedBy>
  <cp:revision>95</cp:revision>
  <dcterms:created xsi:type="dcterms:W3CDTF">2022-05-20T10:20:00Z</dcterms:created>
  <dcterms:modified xsi:type="dcterms:W3CDTF">2026-10-01T05:39:10Z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78C2F191D3E049C5BD1ED750B8B82105_13</vt:lpwstr>
  </property>
</Properties>
</file>